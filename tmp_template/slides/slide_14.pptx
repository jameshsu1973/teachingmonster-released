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4400" b="1">
                <a:solidFill>
                  <a:srgbClr val="1A365D"/>
                </a:solidFill>
              </a:defRPr>
            </a:pPr>
            <a:r>
              <a:t>The Density Anomaly</a:t>
            </a:r>
          </a:p>
        </p:txBody>
      </p:sp>
      <p:pic>
        <p:nvPicPr>
          <p:cNvPr id="3" name="Picture 2" descr="31fde8696a061f0e79eed728644c4d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4718304" cy="3474720"/>
          </a:xfrm>
          <a:prstGeom prst="rect">
            <a:avLst/>
          </a:prstGeom>
        </p:spPr>
      </p:pic>
      <p:pic>
        <p:nvPicPr>
          <p:cNvPr id="4" name="Picture 3" descr="b552b4eb2d96a7048ce37376f3c309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1463040"/>
            <a:ext cx="4718304" cy="34747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14400" y="5029200"/>
            <a:ext cx="4718304" cy="10972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defRPr sz="3200"/>
            </a:pPr>
            <a:r>
              <a:t>ICE</a:t>
            </a:r>
            <a:br/>
            <a:r>
              <a:t>0.9167 g/cm³</a:t>
            </a:r>
            <a:br/>
            <a:r>
              <a:t>'Open and Spaced'</a:t>
            </a:r>
          </a:p>
        </p:txBody>
      </p:sp>
      <p:sp>
        <p:nvSpPr>
          <p:cNvPr id="6" name="Rectangle 5"/>
          <p:cNvSpPr/>
          <p:nvPr/>
        </p:nvSpPr>
        <p:spPr>
          <a:xfrm>
            <a:off x="6556248" y="5029200"/>
            <a:ext cx="4718304" cy="1097280"/>
          </a:xfrm>
          <a:prstGeom prst="rect">
            <a:avLst/>
          </a:prstGeom>
          <a:solidFill>
            <a:srgbClr val="E1EF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defRPr sz="3200"/>
            </a:pPr>
            <a:r>
              <a:t>LIQUID</a:t>
            </a:r>
            <a:br/>
            <a:r>
              <a:t>0.9998 g/cm³</a:t>
            </a:r>
            <a:br/>
            <a:r>
              <a:t>'Crowded and Disordered'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88720"/>
            <a:ext cx="4718304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800" b="1"/>
            </a:pPr>
            <a:r>
              <a:t>Structure (Ordered)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6248" y="1188720"/>
            <a:ext cx="4718304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800" b="1"/>
            </a:pPr>
            <a:r>
              <a:t>Flux (Disordered)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