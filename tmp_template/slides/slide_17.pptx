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The Entropy Penalty</a:t>
            </a:r>
          </a:p>
        </p:txBody>
      </p:sp>
      <p:pic>
        <p:nvPicPr>
          <p:cNvPr id="3" name="Picture 2" descr="576dd7a9b67438a27d58180a2fe60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188720"/>
            <a:ext cx="2743200" cy="914400"/>
          </a:xfrm>
          <a:prstGeom prst="rect">
            <a:avLst/>
          </a:prstGeom>
        </p:spPr>
      </p:pic>
      <p:pic>
        <p:nvPicPr>
          <p:cNvPr id="4" name="Picture 3" descr="afeb86d3c75229c30a2678493fa0fc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4572000" cy="2926080"/>
          </a:xfrm>
          <a:prstGeom prst="rect">
            <a:avLst/>
          </a:prstGeom>
        </p:spPr>
      </p:pic>
      <p:pic>
        <p:nvPicPr>
          <p:cNvPr id="5" name="Picture 4" descr="d01b1c54d2d07b37e93af727ad1f9f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286000"/>
            <a:ext cx="45720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980B9"/>
                </a:solidFill>
              </a:defRPr>
            </a:pPr>
            <a:r>
              <a:t>LOW ENTROPY (Ordered)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2552" y="5212080"/>
            <a:ext cx="45720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E67E22"/>
                </a:solidFill>
              </a:defRPr>
            </a:pPr>
            <a:r>
              <a:t>HIGH ENTROPY (Disordered)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601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 i="1">
                <a:solidFill>
                  <a:srgbClr val="34495E"/>
                </a:solidFill>
              </a:defRPr>
            </a:pPr>
            <a:r>
              <a:t>Ordering water into cages is entropically expensive. Thermodynamics hates a clean room; it wants maximum disorder.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3474720"/>
            <a:ext cx="137160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defRPr sz="1200"/>
            </a:pPr>
            <a:r>
              <a:t>ENERGY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