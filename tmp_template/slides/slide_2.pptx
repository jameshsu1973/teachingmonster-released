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>
                <a:solidFill>
                  <a:srgbClr val="1A237E"/>
                </a:solidFill>
              </a:defRPr>
            </a:pPr>
            <a:r>
              <a:t>The Roadmap to Molecular Mastery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1325880" y="1645920"/>
            <a:ext cx="91440" cy="4114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1645920"/>
            <a:ext cx="731520" cy="731520"/>
          </a:xfrm>
          <a:prstGeom prst="ellipse">
            <a:avLst/>
          </a:prstGeom>
          <a:solidFill>
            <a:srgbClr val="2A4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91440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400" b="1"/>
            </a:pPr>
            <a:r>
              <a:t>Electronic Geometry: The sp³ Hybridization Dance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834640"/>
            <a:ext cx="731520" cy="731520"/>
          </a:xfrm>
          <a:prstGeom prst="ellipse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834640"/>
            <a:ext cx="91440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400" b="1"/>
            </a:pPr>
            <a:r>
              <a:t>The H-Bond: Energetics and picky directionality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4023360"/>
            <a:ext cx="731520" cy="731520"/>
          </a:xfrm>
          <a:prstGeom prst="ellipse">
            <a:avLst/>
          </a:prstGeom>
          <a:solidFill>
            <a:srgbClr val="46C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023360"/>
            <a:ext cx="91440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400" b="1"/>
            </a:pPr>
            <a:r>
              <a:t>Phase Dynamics: Why ice floats and liquid is a 'flickering cluster'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5212080"/>
            <a:ext cx="731520" cy="731520"/>
          </a:xfrm>
          <a:prstGeom prst="ellipse">
            <a:avLst/>
          </a:prstGeom>
          <a:solidFill>
            <a:srgbClr val="82D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212080"/>
            <a:ext cx="91440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400" b="1"/>
            </a:pPr>
            <a:r>
              <a:t>The Hydrophobic Drive: Forcing proteins to fold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