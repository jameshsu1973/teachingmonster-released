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4552" cy="9144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defRPr sz="4400" b="1">
                <a:solidFill>
                  <a:srgbClr val="2C3E50"/>
                </a:solidFill>
              </a:defRPr>
            </a:pPr>
            <a:r>
              <a:t>Directionality: The 180° Rule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1371600"/>
            <a:ext cx="9445752" cy="73152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defRPr sz="2600">
                <a:solidFill>
                  <a:srgbClr val="34495E"/>
                </a:solidFill>
              </a:defRPr>
            </a:pPr>
            <a:r>
              <a:t>H-bonds are geometric perfectionists. Maximum strength occurs only when the Donor-H-Acceptor alignment is collinear.</a:t>
            </a:r>
          </a:p>
        </p:txBody>
      </p:sp>
      <p:pic>
        <p:nvPicPr>
          <p:cNvPr id="4" name="Picture 3" descr="65fee5ab7b0958f9670f2c00c6ec90b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75104" y="2286000"/>
            <a:ext cx="8229600" cy="4114800"/>
          </a:xfrm>
          <a:prstGeom prst="rect">
            <a:avLst/>
          </a:prstGeom>
        </p:spPr>
      </p:pic>
      <p:pic>
        <p:nvPicPr>
          <p:cNvPr id="5" name="Picture 4" descr="4ab23f0c5e6c46c63e75f278e0ac5e5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18304" y="6217920"/>
            <a:ext cx="2743200" cy="4572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