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457200"/>
            <a:ext cx="11274552" cy="731520"/>
          </a:xfrm>
          <a:prstGeom prst="rect">
            <a:avLst/>
          </a:prstGeom>
          <a:noFill/>
        </p:spPr>
        <p:txBody>
          <a:bodyPr wrap="square">
            <a:noAutofit/>
          </a:bodyPr>
          <a:lstStyle/>
          <a:p>
            <a:pPr algn="ctr">
              <a:defRPr sz="3600" b="1">
                <a:solidFill>
                  <a:srgbClr val="2C3E50"/>
                </a:solidFill>
              </a:defRPr>
            </a:pPr>
            <a:r>
              <a:t>Vector Analysis of the Dipole</a:t>
            </a:r>
          </a:p>
        </p:txBody>
      </p:sp>
      <p:pic>
        <p:nvPicPr>
          <p:cNvPr id="3" name="Picture 2" descr="d7244f82a9c998bdbfac0ad70234bc63.png"/>
          <p:cNvPicPr>
            <a:picLocks noChangeAspect="1"/>
          </p:cNvPicPr>
          <p:nvPr/>
        </p:nvPicPr>
        <p:blipFill>
          <a:blip r:embed="rId2"/>
          <a:stretch>
            <a:fillRect/>
          </a:stretch>
        </p:blipFill>
        <p:spPr>
          <a:xfrm>
            <a:off x="457200" y="1371600"/>
            <a:ext cx="5486400" cy="5029200"/>
          </a:xfrm>
          <a:prstGeom prst="rect">
            <a:avLst/>
          </a:prstGeom>
        </p:spPr>
      </p:pic>
      <p:sp>
        <p:nvSpPr>
          <p:cNvPr id="4" name="TextBox 3"/>
          <p:cNvSpPr txBox="1"/>
          <p:nvPr/>
        </p:nvSpPr>
        <p:spPr>
          <a:xfrm>
            <a:off x="6245352" y="1371600"/>
            <a:ext cx="5029200" cy="2286000"/>
          </a:xfrm>
          <a:prstGeom prst="rect">
            <a:avLst/>
          </a:prstGeom>
          <a:noFill/>
        </p:spPr>
        <p:txBody>
          <a:bodyPr wrap="square">
            <a:noAutofit/>
          </a:bodyPr>
          <a:lstStyle/>
          <a:p>
            <a:pPr algn="l">
              <a:defRPr sz="2200">
                <a:solidFill>
                  <a:srgbClr val="34495E"/>
                </a:solidFill>
              </a:defRPr>
            </a:pPr>
            <a:r>
              <a:t>Electronegativity creates the drama. With Oxygen at 3.44 and Hydrogen at 2.20, the difference in electron affinity generates significant bond dipoles. These vectors do not cancel due to the bent molecular geometry (104.5°).</a:t>
            </a:r>
          </a:p>
        </p:txBody>
      </p:sp>
      <p:sp>
        <p:nvSpPr>
          <p:cNvPr id="5" name="Rectangle 4"/>
          <p:cNvSpPr/>
          <p:nvPr/>
        </p:nvSpPr>
        <p:spPr>
          <a:xfrm>
            <a:off x="6245352" y="3840480"/>
            <a:ext cx="5029200" cy="18288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f99c924971809ce76e34cf6d324d803.png"/>
          <p:cNvPicPr>
            <a:picLocks noChangeAspect="1"/>
          </p:cNvPicPr>
          <p:nvPr/>
        </p:nvPicPr>
        <p:blipFill>
          <a:blip r:embed="rId3"/>
          <a:stretch>
            <a:fillRect/>
          </a:stretch>
        </p:blipFill>
        <p:spPr>
          <a:xfrm>
            <a:off x="6400800" y="4114800"/>
            <a:ext cx="4718304" cy="12801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