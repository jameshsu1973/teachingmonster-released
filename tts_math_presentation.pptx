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5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8F8F2"/>
                </a:solidFill>
              </a:rPr>
              <a:t>TeachingMonster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346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E55D5D"/>
                </a:solidFill>
              </a:rPr>
              <a:t>數學公式朗讀 TTS 優化專案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4903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8F8F2"/>
                </a:solidFill>
              </a:rPr>
              <a:t>LatexToSpeech 規則引擎的設計與實作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0" y="914400"/>
            <a:ext cx="2560320" cy="5029200"/>
          </a:xfrm>
          <a:prstGeom prst="rect">
            <a:avLst/>
          </a:prstGeom>
          <a:solidFill>
            <a:srgbClr val="E5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2560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8F8F2"/>
                </a:solidFill>
              </a:rPr>
              <a:t>TTS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6576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8F8F2"/>
                </a:solidFill>
              </a:rPr>
              <a:t>Qwen3-TTS
+
LatexToSpeech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6035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99"/>
                </a:solidFill>
              </a:rPr>
              <a:t>2026-03-23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8F8F2"/>
                </a:solidFill>
              </a:rPr>
              <a:t>問題背景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555566"/>
                </a:solidFill>
              </a:rPr>
              <a:t>為什麼需要數學公式朗讀優化？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5303520" cy="41148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55D5D"/>
                </a:solidFill>
              </a:rPr>
              <a:t>❌  原始 TTS 的限制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44"/>
                </a:solidFill>
              </a:defRPr>
            </a:pPr>
            <a:r>
              <a:t>●  直接餵 LaTeX 符號，變成：</a:t>
            </a:r>
            <a:br/>
            <a:r>
              <a:t>  x equals left parenthesis...</a:t>
            </a:r>
          </a:p>
          <a:p>
            <a:pPr>
              <a:spcAft>
                <a:spcPts val="600"/>
              </a:spcAft>
              <a:defRPr sz="1400">
                <a:solidFill>
                  <a:srgbClr val="2D2D44"/>
                </a:solidFill>
              </a:defRPr>
            </a:pPr>
            <a:r>
              <a:t>●  分數結構成謎：(-b ± √(...))/2a</a:t>
            </a:r>
          </a:p>
          <a:p>
            <a:pPr>
              <a:spcAft>
                <a:spcPts val="600"/>
              </a:spcAft>
              <a:defRPr sz="1400">
                <a:solidFill>
                  <a:srgbClr val="2D2D44"/>
                </a:solidFill>
              </a:defRPr>
            </a:pPr>
            <a:r>
              <a:t>●  希臘字母、上下標、積分極限</a:t>
            </a:r>
            <a:br/>
            <a:r>
              <a:t>  全都破碎不清</a:t>
            </a:r>
          </a:p>
          <a:p>
            <a:pPr>
              <a:spcAft>
                <a:spcPts val="600"/>
              </a:spcAft>
              <a:defRPr sz="1400">
                <a:solidFill>
                  <a:srgbClr val="2D2D44"/>
                </a:solidFill>
              </a:defRPr>
            </a:pPr>
            <a:r>
              <a:t>●  學生聽不懂，學習效果大打折扣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103120"/>
            <a:ext cx="5303520" cy="411480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7AE60"/>
                </a:solidFill>
              </a:rPr>
              <a:t>✅  我們的目標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83464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44"/>
                </a:solidFill>
              </a:defRPr>
            </a:pPr>
            <a:r>
              <a:t>●  LaTeX 公式 → 自然口語文字</a:t>
            </a:r>
          </a:p>
          <a:p>
            <a:pPr>
              <a:spcAft>
                <a:spcPts val="600"/>
              </a:spcAft>
              <a:defRPr sz="1400">
                <a:solidFill>
                  <a:srgbClr val="2D2D44"/>
                </a:solidFill>
              </a:defRPr>
            </a:pPr>
            <a:r>
              <a:t>●  讓 Qwen3-TTS 朗讀時自然流暢</a:t>
            </a:r>
          </a:p>
          <a:p>
            <a:pPr>
              <a:spcAft>
                <a:spcPts val="600"/>
              </a:spcAft>
              <a:defRPr sz="1400">
                <a:solidFill>
                  <a:srgbClr val="2D2D44"/>
                </a:solidFill>
              </a:defRPr>
            </a:pPr>
            <a:r>
              <a:t>●  零額外模型負擔，純規則引擎</a:t>
            </a:r>
          </a:p>
          <a:p>
            <a:pPr>
              <a:spcAft>
                <a:spcPts val="600"/>
              </a:spcAft>
              <a:defRPr sz="1400">
                <a:solidFill>
                  <a:srgbClr val="2D2D44"/>
                </a:solidFill>
              </a:defRPr>
            </a:pPr>
            <a:r>
              <a:t>●  可重複使用，無需網路連線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8F8F2"/>
                </a:solidFill>
              </a:rPr>
              <a:t>原始 TTS 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88899"/>
                </a:solidFill>
              </a:rPr>
              <a:t>Qwen3-TTS 的設計假設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2560320" cy="2560320"/>
          </a:xfrm>
          <a:prstGeom prst="rect">
            <a:avLst/>
          </a:prstGeom>
          <a:solidFill>
            <a:srgbClr val="345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8F8F2"/>
                </a:solidFill>
              </a:rPr>
              <a:t>📄 投影片文字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8F8F2"/>
                </a:solidFill>
              </a:rPr>
              <a:t>x = (-b ± √(...))/2a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3108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55D5D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2194560"/>
            <a:ext cx="2560320" cy="2560320"/>
          </a:xfrm>
          <a:prstGeom prst="rect">
            <a:avLst/>
          </a:prstGeom>
          <a:solidFill>
            <a:srgbClr val="3D6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8F8F2"/>
                </a:solidFill>
              </a:rPr>
              <a:t>🔧 簡單前處理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1089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8F8F2"/>
                </a:solidFill>
              </a:rPr>
              <a:t>加入句號、簡單替換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3108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55D5D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194560"/>
            <a:ext cx="2560320" cy="2560320"/>
          </a:xfrm>
          <a:prstGeom prst="rect">
            <a:avLst/>
          </a:prstGeom>
          <a:solidFill>
            <a:srgbClr val="8B3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8F8F2"/>
                </a:solidFill>
              </a:rPr>
              <a:t>🤖 Qwen3-TTS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1089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8F8F2"/>
                </a:solidFill>
              </a:rPr>
              <a:t>Ryan 音色 / neutral instruct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108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55D5D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2194560"/>
            <a:ext cx="2560320" cy="2560320"/>
          </a:xfrm>
          <a:prstGeom prst="rect">
            <a:avLst/>
          </a:prstGeom>
          <a:solidFill>
            <a:srgbClr val="5D3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19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8F8F2"/>
                </a:solidFill>
              </a:rPr>
              <a:t>🔊 音訊輸出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19" y="31089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8F8F2"/>
                </a:solidFill>
              </a:rPr>
              <a:t>速度正常但數學破碎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029200"/>
            <a:ext cx="11247120" cy="45720"/>
          </a:xfrm>
          <a:prstGeom prst="rect">
            <a:avLst/>
          </a:prstGeom>
          <a:solidFill>
            <a:srgbClr val="E5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BBBCC"/>
                </a:solidFill>
              </a:rPr>
              <a:t>Qwen3-TTS 專為自然語言語音合成設計，吃乾淨的文字，輸出流暢語音。
但數學公式是另一種語言——它需要被「翻譯」成人類朗讀的樣子。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8F8F2"/>
                </a:solidFill>
              </a:rPr>
              <a:t>研究與方案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88899"/>
                </a:solidFill>
              </a:rPr>
              <a:t>查詢到的三種可行方法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011680"/>
            <a:ext cx="3657600" cy="4206240"/>
          </a:xfrm>
          <a:prstGeom prst="rect">
            <a:avLst/>
          </a:prstGeom>
          <a:solidFill>
            <a:srgbClr val="345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論文方案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MathReader (2025 新論文)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1546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DD"/>
                </a:solidFill>
              </a:rPr>
              <a:t>Nougat OCR + T5-small 翻譯 + VITS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39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FFA0"/>
                </a:solidFill>
              </a:rPr>
              <a:t>✅ 最新研究，WER 大幅降低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434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CAA"/>
                </a:solidFill>
              </a:rPr>
              <a:t>⚠️  需訓練模型，GPU 負擔大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40" y="3840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011680"/>
            <a:ext cx="3657600" cy="4206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1488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國外開源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5603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Speech-Rule-Engine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1546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DD"/>
                </a:solidFill>
              </a:rPr>
              <a:t>JavaScript 規則引擎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749039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FFA0"/>
                </a:solidFill>
              </a:rPr>
              <a:t>✅ 速度快，有標準規範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43434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CAA"/>
                </a:solidFill>
              </a:rPr>
              <a:t>⚠️  需跑 JS 環境，整合困難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3840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011680"/>
            <a:ext cx="3657600" cy="4206240"/>
          </a:xfrm>
          <a:prstGeom prst="rect">
            <a:avLst/>
          </a:prstGeom>
          <a:solidFill>
            <a:srgbClr val="E5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1488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CC"/>
                </a:solidFill>
              </a:rPr>
              <a:t>我們選用的方案 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5603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LatexToSpeech 規則引擎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1546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DD"/>
                </a:solidFill>
              </a:rPr>
              <a:t>Python 正則表達式 + 對照表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749039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FFA0"/>
                </a:solidFill>
              </a:rPr>
              <a:t>✅ 完全可控、輕量、無網路依賴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3434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CAA"/>
                </a:solidFill>
              </a:rPr>
              <a:t>⚠️  複雜巢狀公式需要持續擴充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8F8F2"/>
                </a:solidFill>
              </a:rPr>
              <a:t>LatexToSpeech 規則引擎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88899"/>
                </a:solidFill>
              </a:rPr>
              <a:t>插入在 Qwen3-TTS 之前，純 Python 輕量前處理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103120"/>
            <a:ext cx="1508760" cy="1554480"/>
          </a:xfrm>
          <a:prstGeom prst="rect">
            <a:avLst/>
          </a:prstGeom>
          <a:solidFill>
            <a:srgbClr val="345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59" y="21945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8F2"/>
                </a:solidFill>
              </a:rPr>
              <a:t>1. 輸入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59" y="265176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</a:rPr>
              <a:t>含 LaTeX 的文字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64792" y="26517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55D5D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1993392" y="2103120"/>
            <a:ext cx="1508760" cy="1554480"/>
          </a:xfrm>
          <a:prstGeom prst="rect">
            <a:avLst/>
          </a:prstGeom>
          <a:solidFill>
            <a:srgbClr val="8B3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39112" y="21945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8F2"/>
                </a:solidFill>
              </a:rPr>
              <a:t>2. 分數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9112" y="265176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</a:rPr>
              <a:t>\frac{a}{b}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8144" y="26517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55D5D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66744" y="2103120"/>
            <a:ext cx="1508760" cy="1554480"/>
          </a:xfrm>
          <a:prstGeom prst="rect">
            <a:avLst/>
          </a:prstGeom>
          <a:solidFill>
            <a:srgbClr val="5D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2463" y="21945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8F2"/>
                </a:solidFill>
              </a:rPr>
              <a:t>3. 極限/總和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2463" y="265176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</a:rPr>
              <a:t>\lim \sum \int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1496" y="26517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55D5D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0096" y="2103120"/>
            <a:ext cx="1508760" cy="1554480"/>
          </a:xfrm>
          <a:prstGeom prst="rect">
            <a:avLst/>
          </a:prstGeom>
          <a:solidFill>
            <a:srgbClr val="8B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85816" y="21945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8F2"/>
                </a:solidFill>
              </a:rPr>
              <a:t>4. 上標/下標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85816" y="265176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</a:rPr>
              <a:t>x^2, x_i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26517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55D5D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13448" y="2103120"/>
            <a:ext cx="1508760" cy="1554480"/>
          </a:xfrm>
          <a:prstGeom prst="rect">
            <a:avLst/>
          </a:prstGeom>
          <a:solidFill>
            <a:srgbClr val="3D5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59168" y="21945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8F2"/>
                </a:solidFill>
              </a:rPr>
              <a:t>5. 根號/函數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265176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</a:rPr>
              <a:t>\sqrt, \sin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6517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55D5D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2103120"/>
            <a:ext cx="1508760" cy="1554480"/>
          </a:xfrm>
          <a:prstGeom prst="rect">
            <a:avLst/>
          </a:prstGeom>
          <a:solidFill>
            <a:srgbClr val="8B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32520" y="21945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8F2"/>
                </a:solidFill>
              </a:rPr>
              <a:t>6. 符號/字母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265176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</a:rPr>
              <a:t>\alpha, \leq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31552" y="26517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55D5D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60152" y="2103120"/>
            <a:ext cx="1508760" cy="1554480"/>
          </a:xfrm>
          <a:prstGeom prst="rect">
            <a:avLst/>
          </a:prstGeom>
          <a:solidFill>
            <a:srgbClr val="59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05872" y="21945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8F2"/>
                </a:solidFill>
              </a:rPr>
              <a:t>7. 清理輸出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05872" y="265176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</a:rPr>
              <a:t>乾淨口語文字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5D5D"/>
                </a:solidFill>
              </a:rPr>
              <a:t>支援的轉換項目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343400"/>
            <a:ext cx="5760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AACCAA"/>
                </a:solidFill>
              </a:defRPr>
            </a:pPr>
            <a:r>
              <a:t>●  分數 \frac{a}{b}  →  the fraction with numerator a, and denominator b</a:t>
            </a:r>
          </a:p>
          <a:p>
            <a:pPr>
              <a:spcAft>
                <a:spcPts val="600"/>
              </a:spcAft>
              <a:defRPr sz="1100">
                <a:solidFill>
                  <a:srgbClr val="AACCAA"/>
                </a:solidFill>
              </a:defRPr>
            </a:pPr>
            <a:r>
              <a:t>●  上標 x^{2}         →  x squared / x to the power of n</a:t>
            </a:r>
          </a:p>
          <a:p>
            <a:pPr>
              <a:spcAft>
                <a:spcPts val="600"/>
              </a:spcAft>
              <a:defRPr sz="1100">
                <a:solidFill>
                  <a:srgbClr val="AACCAA"/>
                </a:solidFill>
              </a:defRPr>
            </a:pPr>
            <a:r>
              <a:t>●  下標 x_{ij}        →  x sub i j</a:t>
            </a:r>
          </a:p>
          <a:p>
            <a:pPr>
              <a:spcAft>
                <a:spcPts val="600"/>
              </a:spcAft>
              <a:defRPr sz="1100">
                <a:solidFill>
                  <a:srgbClr val="AACCAA"/>
                </a:solidFill>
              </a:defRPr>
            </a:pPr>
            <a:r>
              <a:t>●  根號 \sqrt{x}     →  the square root of x</a:t>
            </a:r>
          </a:p>
          <a:p>
            <a:pPr>
              <a:spcAft>
                <a:spcPts val="600"/>
              </a:spcAft>
              <a:defRPr sz="1100">
                <a:solidFill>
                  <a:srgbClr val="AACCAA"/>
                </a:solidFill>
              </a:defRPr>
            </a:pPr>
            <a:r>
              <a:t>●  希臘字母 \alpha    →  alpha</a:t>
            </a:r>
          </a:p>
          <a:p>
            <a:pPr>
              <a:spcAft>
                <a:spcPts val="600"/>
              </a:spcAft>
              <a:defRPr sz="1100">
                <a:solidFill>
                  <a:srgbClr val="AACCAA"/>
                </a:solidFill>
              </a:defRPr>
            </a:pPr>
            <a:r>
              <a:t>●  極限 \lim_{x→0}   →  limit as x approaches 0</a:t>
            </a:r>
          </a:p>
          <a:p>
            <a:pPr>
              <a:spcAft>
                <a:spcPts val="600"/>
              </a:spcAft>
              <a:defRPr sz="1100">
                <a:solidFill>
                  <a:srgbClr val="AACCAA"/>
                </a:solidFill>
              </a:defRPr>
            </a:pPr>
            <a:r>
              <a:t>●  總和 \sum_{i=1}^{n} →  sum from i equals 1 to n</a:t>
            </a:r>
          </a:p>
          <a:p>
            <a:pPr>
              <a:spcAft>
                <a:spcPts val="600"/>
              </a:spcAft>
              <a:defRPr sz="1100">
                <a:solidFill>
                  <a:srgbClr val="AACCAA"/>
                </a:solidFill>
              </a:defRPr>
            </a:pPr>
            <a:r>
              <a:t>●  積分 \int_0^1      →  integral from 0 to 1</a:t>
            </a:r>
          </a:p>
          <a:p>
            <a:pPr>
              <a:spcAft>
                <a:spcPts val="600"/>
              </a:spcAft>
              <a:defRPr sz="1100">
                <a:solidFill>
                  <a:srgbClr val="AACCAA"/>
                </a:solidFill>
              </a:defRPr>
            </a:pPr>
            <a:r>
              <a:t>●  矩陣 \begin{pmatrix} a &amp; b \\ c &amp; d \end{pmatrix}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931920"/>
            <a:ext cx="5303520" cy="27432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5D5D"/>
                </a:solidFill>
              </a:rPr>
              <a:t>符號對照表（精選）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4805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9DC76"/>
                </a:solidFill>
              </a:rPr>
              <a:t>\\frac{a}{b}  →  a over 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47274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9DC76"/>
                </a:solidFill>
              </a:rPr>
              <a:t>\\sqrt{x}     →  square root of 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9743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9DC76"/>
                </a:solidFill>
              </a:rPr>
              <a:t>\\alpha       →  alpha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522122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9DC76"/>
                </a:solidFill>
              </a:rPr>
              <a:t>\\leq         →  less than or equal 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54681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9DC76"/>
                </a:solidFill>
              </a:rPr>
              <a:t>\\times      →  times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57150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9DC76"/>
                </a:solidFill>
              </a:rPr>
              <a:t>\\rightarrow →  goes to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9618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9DC76"/>
                </a:solidFill>
              </a:rPr>
              <a:t>\\sin         →  sine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620877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9DC76"/>
                </a:solidFill>
              </a:rPr>
              <a:t>\\int_0^1    →  integral from 0 to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8F8F2"/>
                </a:solidFill>
              </a:rPr>
              <a:t>實際轉換範例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88899"/>
                </a:solidFill>
              </a:rPr>
              <a:t>從 LaTeX 到流暢朗讀文字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920240"/>
            <a:ext cx="5669280" cy="214884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0000"/>
                </a:solidFill>
              </a:rPr>
              <a:t>一元二次公式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66"/>
                </a:solidFill>
              </a:rPr>
              <a:t>LaTeX：x = \frac{-b + \sqrt{b^2-4ac}}{2a}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0000"/>
                </a:solidFill>
              </a:rPr>
              <a:t>❌ x equals left parenthesis negative b plus or minus root...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6600"/>
                </a:solidFill>
              </a:rPr>
              <a:t>✅ x equals the fraction with numerator minus b plus the square root of b squared minus 4 a c, and denominator 2 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920240"/>
            <a:ext cx="5669280" cy="214884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0000"/>
                </a:solidFill>
              </a:rPr>
              <a:t>歐拉公式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66"/>
                </a:solidFill>
              </a:rPr>
              <a:t>LaTeX：e^{i\pi} + 1 =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889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0000"/>
                </a:solidFill>
              </a:rPr>
              <a:t>❌ e left superscript i pi right superscript plus 1 equals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3375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6600"/>
                </a:solidFill>
              </a:rPr>
              <a:t>✅ e to the power of i pi plus 1 equals 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51960"/>
            <a:ext cx="5669280" cy="214884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343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0000"/>
                </a:solidFill>
              </a:rPr>
              <a:t>積分計算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66"/>
                </a:solidFill>
              </a:rPr>
              <a:t>LaTeX：\int_0^1 x^2 dx = \frac{1}{3}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206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0000"/>
                </a:solidFill>
              </a:rPr>
              <a:t>❌ integral sub 0 to the power of one x squared dx...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692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6600"/>
                </a:solidFill>
              </a:rPr>
              <a:t>✅ integral from 0 to 1 x squared dx equals the fraction with numerator 1, and denominator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251960"/>
            <a:ext cx="5669280" cy="214884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343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0000"/>
                </a:solidFill>
              </a:rPr>
              <a:t>級數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63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66"/>
                </a:solidFill>
              </a:rPr>
              <a:t>LaTeX：\sum_{n=1}^{\infty} \frac{1}{n^2}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1206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0000"/>
                </a:solidFill>
              </a:rPr>
              <a:t>❌ sum sub n equals 1 to the power of infinity...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6692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6600"/>
                </a:solidFill>
              </a:rPr>
              <a:t>✅ sum from n equals 1 to infinity the fraction with numerator 1, and denominator n squared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8F8F2"/>
                </a:solidFill>
              </a:rPr>
              <a:t>與 TeachingMonster 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88899"/>
                </a:solidFill>
              </a:rPr>
              <a:t>一行程式碼升級現有流程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011680"/>
            <a:ext cx="2560320" cy="914400"/>
          </a:xfrm>
          <a:prstGeom prst="rect">
            <a:avLst/>
          </a:prstGeom>
          <a:solidFill>
            <a:srgbClr val="345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8F8F2"/>
                </a:solidFill>
              </a:rPr>
              <a:t>原始投影片文字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5D5D"/>
                </a:solidFill>
              </a:rPr>
              <a:t>↓ + LatexToSpeech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383280"/>
            <a:ext cx="2560320" cy="91440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口語化文字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89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B86C"/>
                </a:solidFill>
              </a:rPr>
              <a:t>↓ Qwen3-TTS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54880"/>
            <a:ext cx="2560320" cy="914400"/>
          </a:xfrm>
          <a:prstGeom prst="rect">
            <a:avLst/>
          </a:prstGeom>
          <a:solidFill>
            <a:srgbClr val="8B3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892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8F8F2"/>
                </a:solidFill>
              </a:rPr>
              <a:t>高品質語音輸出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011680"/>
            <a:ext cx="8046720" cy="4572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5D5D"/>
                </a:solidFill>
              </a:rPr>
              <a:t>使用範例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606040"/>
            <a:ext cx="7589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9DC76"/>
                </a:solidFill>
                <a:latin typeface="Courier New"/>
              </a:defRPr>
            </a:pPr>
            <a:r>
              <a:t>from src.tts.latex_to_speech import LatexToSpeech</a:t>
            </a:r>
          </a:p>
          <a:p>
            <a:pPr>
              <a:defRPr sz="1100" b="0">
                <a:solidFill>
                  <a:srgbClr val="A9DC76"/>
                </a:solidFill>
                <a:latin typeface="Courier New"/>
              </a:defRPr>
            </a:pPr>
            <a:r>
              <a:t>from src.tts.tts import TTSModule</a:t>
            </a:r>
          </a:p>
          <a:p>
            <a:pPr>
              <a:defRPr sz="1100" b="0">
                <a:solidFill>
                  <a:srgbClr val="A9DC76"/>
                </a:solidFill>
                <a:latin typeface="Courier New"/>
              </a:defRPr>
            </a:pPr>
          </a:p>
          <a:p>
            <a:pPr>
              <a:defRPr sz="1100" b="0">
                <a:solidFill>
                  <a:srgbClr val="A9DC76"/>
                </a:solidFill>
                <a:latin typeface="Courier New"/>
              </a:defRPr>
            </a:pPr>
            <a:r>
              <a:t># 初始化</a:t>
            </a:r>
          </a:p>
          <a:p>
            <a:pPr>
              <a:defRPr sz="1100" b="0">
                <a:solidFill>
                  <a:srgbClr val="A9DC76"/>
                </a:solidFill>
                <a:latin typeface="Courier New"/>
              </a:defRPr>
            </a:pPr>
            <a:r>
              <a:t>latex2speech = LatexToSpeech()</a:t>
            </a:r>
          </a:p>
          <a:p>
            <a:pPr>
              <a:defRPr sz="1100" b="0">
                <a:solidFill>
                  <a:srgbClr val="A9DC76"/>
                </a:solidFill>
                <a:latin typeface="Courier New"/>
              </a:defRPr>
            </a:pPr>
            <a:r>
              <a:t>tts = TTSModule(...)</a:t>
            </a:r>
          </a:p>
          <a:p>
            <a:pPr>
              <a:defRPr sz="1100" b="0">
                <a:solidFill>
                  <a:srgbClr val="A9DC76"/>
                </a:solidFill>
                <a:latin typeface="Courier New"/>
              </a:defRPr>
            </a:pPr>
            <a:r>
              <a:t>tts.load()</a:t>
            </a:r>
          </a:p>
          <a:p>
            <a:pPr>
              <a:defRPr sz="1100" b="0">
                <a:solidFill>
                  <a:srgbClr val="A9DC76"/>
                </a:solidFill>
                <a:latin typeface="Courier New"/>
              </a:defRPr>
            </a:pPr>
          </a:p>
          <a:p>
            <a:pPr>
              <a:defRPr sz="1100" b="0">
                <a:solidFill>
                  <a:srgbClr val="A9DC76"/>
                </a:solidFill>
                <a:latin typeface="Courier New"/>
              </a:defRPr>
            </a:pPr>
            <a:r>
              <a:t># 投影片內容</a:t>
            </a:r>
          </a:p>
          <a:p>
            <a:pPr>
              <a:defRPr sz="1100" b="0">
                <a:solidFill>
                  <a:srgbClr val="A9DC76"/>
                </a:solidFill>
                <a:latin typeface="Courier New"/>
              </a:defRPr>
            </a:pPr>
            <a:r>
              <a:t>slides = [</a:t>
            </a:r>
          </a:p>
          <a:p>
            <a:pPr>
              <a:defRPr sz="1100" b="0">
                <a:solidFill>
                  <a:srgbClr val="A9DC76"/>
                </a:solidFill>
                <a:latin typeface="Courier New"/>
              </a:defRPr>
            </a:pPr>
            <a:r>
              <a:t>    r"x = \\frac{{-b + \\sqrt{{b^2-4ac}}}}{{2a}}",</a:t>
            </a:r>
          </a:p>
          <a:p>
            <a:pPr>
              <a:defRPr sz="1100" b="0">
                <a:solidFill>
                  <a:srgbClr val="A9DC76"/>
                </a:solidFill>
                <a:latin typeface="Courier New"/>
              </a:defRPr>
            </a:pPr>
            <a:r>
              <a:t>    r"\\int_0^1 x^2 dx = \\frac{{1}}{{3}}",</a:t>
            </a:r>
          </a:p>
          <a:p>
            <a:pPr>
              <a:defRPr sz="1100" b="0">
                <a:solidFill>
                  <a:srgbClr val="A9DC76"/>
                </a:solidFill>
                <a:latin typeface="Courier New"/>
              </a:defRPr>
            </a:pPr>
            <a:r>
              <a:t>]</a:t>
            </a:r>
          </a:p>
          <a:p>
            <a:pPr>
              <a:defRPr sz="1100" b="0">
                <a:solidFill>
                  <a:srgbClr val="A9DC76"/>
                </a:solidFill>
                <a:latin typeface="Courier New"/>
              </a:defRPr>
            </a:pPr>
          </a:p>
          <a:p>
            <a:pPr>
              <a:defRPr sz="1100" b="0">
                <a:solidFill>
                  <a:srgbClr val="A9DC76"/>
                </a:solidFill>
                <a:latin typeface="Courier New"/>
              </a:defRPr>
            </a:pPr>
            <a:r>
              <a:t># 轉換 + 朗讀</a:t>
            </a:r>
          </a:p>
          <a:p>
            <a:pPr>
              <a:defRPr sz="1100" b="0">
                <a:solidFill>
                  <a:srgbClr val="A9DC76"/>
                </a:solidFill>
                <a:latin typeface="Courier New"/>
              </a:defRPr>
            </a:pPr>
            <a:r>
              <a:t>spoken = [latex2speech.convert_inline(s) for s in slides]</a:t>
            </a:r>
          </a:p>
          <a:p>
            <a:pPr>
              <a:defRPr sz="1100" b="0">
                <a:solidFill>
                  <a:srgbClr val="A9DC76"/>
                </a:solidFill>
                <a:latin typeface="Courier New"/>
              </a:defRPr>
            </a:pPr>
            <a:r>
              <a:t>tts.run(spoken)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8F8F2"/>
                </a:solidFill>
              </a:rPr>
              <a:t>修改記錄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88899"/>
                </a:solidFill>
              </a:rPr>
              <a:t>今天在 TeachingMonster 做的所有變更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920240"/>
            <a:ext cx="11430000" cy="71323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99"/>
                </a:solidFill>
              </a:rPr>
              <a:t>🆕 新增檔案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9659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2244"/>
                </a:solidFill>
              </a:rPr>
              <a:t>src/tts/latex_to_speech.py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2860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</a:rPr>
              <a:t>23 KB 規則引擎，涵蓋分數/次方/根號/極限/總和/積分/矩陣等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24912"/>
            <a:ext cx="11430000" cy="71323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77063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99"/>
                </a:solidFill>
              </a:rPr>
              <a:t>🐛 修復矩陣匹配順序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77063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2244"/>
                </a:solidFill>
              </a:rPr>
              <a:t>_convert_matrix 在 _convert_envs 之後執行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09067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</a:rPr>
              <a:t>導致 pmatrix begin/end 被移除後才匹配 → 改順序後正常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29584"/>
            <a:ext cx="11430000" cy="71323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7530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99"/>
                </a:solidFill>
              </a:rPr>
              <a:t>🐛 修復積分邊界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57530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2244"/>
                </a:solidFill>
              </a:rPr>
              <a:t>\int_0^1 被錯誤解析為 sub 0 上標 power of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895344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</a:rPr>
              <a:t>加入 pattern6/7 專門處理無括號積分邊界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34256"/>
            <a:ext cx="11430000" cy="71323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7997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99"/>
                </a:solidFill>
              </a:rPr>
              <a:t>📋 新增測試腳本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37997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2244"/>
                </a:solidFill>
              </a:rPr>
              <a:t>test_math.py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700016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</a:rPr>
              <a:t>用 conda monster 環境驗證 6 段數學公式朗讀正確生成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138928"/>
            <a:ext cx="11430000" cy="71323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18464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99"/>
                </a:solidFill>
              </a:rPr>
              <a:t>🔧 執行環境確認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18464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2244"/>
                </a:solidFill>
              </a:rPr>
              <a:t>使用 conda run -n monster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5046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</a:rPr>
              <a:t>Qwen3-TTS + faster-whisper 正確在 monster 環境執行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943600"/>
            <a:ext cx="11430000" cy="71323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98932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99"/>
                </a:solidFill>
              </a:rPr>
              <a:t>📄 新增簡報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9893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2244"/>
                </a:solidFill>
              </a:rPr>
              <a:t>test_math_presentation.pptx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63093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</a:rPr>
              <a:t>本份簡報，記錄今日所有工作成果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8F8F2"/>
                </a:solidFill>
              </a:rPr>
              <a:t>限制與未來方向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45920"/>
            <a:ext cx="5303520" cy="45720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55D5D"/>
                </a:solidFill>
              </a:rPr>
              <a:t>⚠️  目前限制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BBDD"/>
                </a:solidFill>
              </a:defRPr>
            </a:pPr>
            <a:r>
              <a:t>●  複雜巢狀分數可能需要多次迭代轉換</a:t>
            </a:r>
          </a:p>
          <a:p>
            <a:pPr>
              <a:spcAft>
                <a:spcPts val="600"/>
              </a:spcAft>
              <a:defRPr sz="1400">
                <a:solidFill>
                  <a:srgbClr val="BBBBDD"/>
                </a:solidFill>
              </a:defRPr>
            </a:pPr>
            <a:r>
              <a:t>●  自定義 LaTeX 巨集（\def, \newcommand）不支援</a:t>
            </a:r>
          </a:p>
          <a:p>
            <a:pPr>
              <a:spcAft>
                <a:spcPts val="600"/>
              </a:spcAft>
              <a:defRPr sz="1400">
                <a:solidFill>
                  <a:srgbClr val="BBBBDD"/>
                </a:solidFill>
              </a:defRPr>
            </a:pPr>
            <a:r>
              <a:t>●  矩陣複雜度僅支援到 4x4</a:t>
            </a:r>
          </a:p>
          <a:p>
            <a:pPr>
              <a:spcAft>
                <a:spcPts val="600"/>
              </a:spcAft>
              <a:defRPr sz="1400">
                <a:solidFill>
                  <a:srgbClr val="BBBBDD"/>
                </a:solidFill>
              </a:defRPr>
            </a:pPr>
            <a:r>
              <a:t>●  無 Anselm 書籍那種特殊數學朗讀慣例</a:t>
            </a:r>
          </a:p>
          <a:p>
            <a:pPr>
              <a:spcAft>
                <a:spcPts val="600"/>
              </a:spcAft>
              <a:defRPr sz="1400">
                <a:solidFill>
                  <a:srgbClr val="BBBBDD"/>
                </a:solidFill>
              </a:defRPr>
            </a:pPr>
            <a:r>
              <a:t>●  沒有針對 Taylor/Maclaurin 展開的特殊處理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0FA7B"/>
                </a:solidFill>
              </a:rPr>
              <a:t>🔮  未來方向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BBDD"/>
                </a:solidFill>
              </a:defRPr>
            </a:pPr>
            <a:r>
              <a:t>●  用 MathReader 的 T5-small 微調模型替換規則引擎</a:t>
            </a:r>
          </a:p>
          <a:p>
            <a:pPr>
              <a:spcAft>
                <a:spcPts val="600"/>
              </a:spcAft>
              <a:defRPr sz="1400">
                <a:solidFill>
                  <a:srgbClr val="BBBBDD"/>
                </a:solidFill>
              </a:defRPr>
            </a:pPr>
            <a:r>
              <a:t>●  加入 MathBridge 資料集訓練</a:t>
            </a:r>
          </a:p>
          <a:p>
            <a:pPr>
              <a:spcAft>
                <a:spcPts val="600"/>
              </a:spcAft>
              <a:defRPr sz="1400">
                <a:solidFill>
                  <a:srgbClr val="BBBBDD"/>
                </a:solidFill>
              </a:defRPr>
            </a:pPr>
            <a:r>
              <a:t>●  支援中文數學朗讀（\frac →分之）</a:t>
            </a:r>
          </a:p>
          <a:p>
            <a:pPr>
              <a:spcAft>
                <a:spcPts val="600"/>
              </a:spcAft>
              <a:defRPr sz="1400">
                <a:solidFill>
                  <a:srgbClr val="BBBBDD"/>
                </a:solidFill>
              </a:defRPr>
            </a:pPr>
            <a:r>
              <a:t>●  整合 Edge TTS 作為備用引擎</a:t>
            </a:r>
          </a:p>
          <a:p>
            <a:pPr>
              <a:spcAft>
                <a:spcPts val="600"/>
              </a:spcAft>
              <a:defRPr sz="1400">
                <a:solidFill>
                  <a:srgbClr val="BBBBDD"/>
                </a:solidFill>
              </a:defRPr>
            </a:pPr>
            <a:r>
              <a:t>●  自動偵測 \begin{equation} 環境</a:t>
            </a:r>
          </a:p>
          <a:p>
            <a:pPr>
              <a:spcAft>
                <a:spcPts val="600"/>
              </a:spcAft>
              <a:defRPr sz="1400">
                <a:solidFill>
                  <a:srgbClr val="BBBBDD"/>
                </a:solidFill>
              </a:defRPr>
            </a:pPr>
            <a:r>
              <a:t>●  加進 TeachingMonster 的 slides 流程中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5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8F8F2"/>
                </a:solidFill>
              </a:rPr>
              <a:t>總結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691640"/>
            <a:ext cx="9144000" cy="45720"/>
          </a:xfrm>
          <a:prstGeom prst="rect">
            <a:avLst/>
          </a:prstGeom>
          <a:solidFill>
            <a:srgbClr val="E5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AADDAA"/>
                </a:solidFill>
              </a:defRPr>
            </a:pPr>
            <a:r>
              <a:t>●  ✅  建構了 LatexToSpeech 規則引擎，純 Python、輕量、無依賴</a:t>
            </a:r>
          </a:p>
          <a:p>
            <a:pPr>
              <a:spcAft>
                <a:spcPts val="600"/>
              </a:spcAft>
              <a:defRPr sz="1800">
                <a:solidFill>
                  <a:srgbClr val="AADDAA"/>
                </a:solidFill>
              </a:defRPr>
            </a:pPr>
            <a:r>
              <a:t>●  ✅  成功轉換複雜 LaTeX 數學公式為自然口語文字</a:t>
            </a:r>
          </a:p>
          <a:p>
            <a:pPr>
              <a:spcAft>
                <a:spcPts val="600"/>
              </a:spcAft>
              <a:defRPr sz="1800">
                <a:solidFill>
                  <a:srgbClr val="AADDAA"/>
                </a:solidFill>
              </a:defRPr>
            </a:pPr>
            <a:r>
              <a:t>●  ✅  與 Qwen3-TTS 整合，朗讀數學公式流暢自然</a:t>
            </a:r>
          </a:p>
          <a:p>
            <a:pPr>
              <a:spcAft>
                <a:spcPts val="600"/>
              </a:spcAft>
              <a:defRPr sz="1800">
                <a:solidFill>
                  <a:srgbClr val="AADDAA"/>
                </a:solidFill>
              </a:defRPr>
            </a:pPr>
            <a:r>
              <a:t>●  ✅  支援分數、根號、上標、下標、極限、總和、積分、矩陣等</a:t>
            </a:r>
          </a:p>
          <a:p>
            <a:pPr>
              <a:spcAft>
                <a:spcPts val="600"/>
              </a:spcAft>
              <a:defRPr sz="1800">
                <a:solidFill>
                  <a:srgbClr val="AADDAA"/>
                </a:solidFill>
              </a:defRPr>
            </a:pPr>
            <a:r>
              <a:t>●  ✅  測試驗證成功，mp3 正常生成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846320"/>
            <a:ext cx="9144000" cy="45720"/>
          </a:xfrm>
          <a:prstGeom prst="rect">
            <a:avLst/>
          </a:prstGeom>
          <a:solidFill>
            <a:srgbClr val="E5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8899"/>
                </a:solidFill>
              </a:rPr>
              <a:t>這只是起點。
下一步：T5 微調模型，把規則引擎升級成 ML 模型，
讓每一個數學式都朗讀精準。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77"/>
                </a:solidFill>
              </a:rPr>
              <a:t>檔案位置：TeachingMonster-released/src/tts/latex_to_speech.py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