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400" b="1">
                <a:solidFill>
                  <a:srgbClr val="333333"/>
                </a:solidFill>
              </a:defRPr>
            </a:pPr>
            <a:r>
              <a:t>The Gibbs Drive</a:t>
            </a:r>
          </a:p>
        </p:txBody>
      </p:sp>
      <p:pic>
        <p:nvPicPr>
          <p:cNvPr id="3" name="Picture 2" descr="a6c352b1e8fdb13d8f7ecda7ccfb87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2011680"/>
            <a:ext cx="137160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80560" y="2011680"/>
            <a:ext cx="4572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6000"/>
            </a:pPr>
            <a:r>
              <a:t>=</a:t>
            </a:r>
          </a:p>
        </p:txBody>
      </p:sp>
      <p:pic>
        <p:nvPicPr>
          <p:cNvPr id="5" name="Picture 4" descr="5a12f0d13640f3eda8062adafe0a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011680"/>
            <a:ext cx="137160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2011680"/>
            <a:ext cx="4572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6000"/>
            </a:pPr>
            <a:r>
              <a:t>−</a:t>
            </a:r>
          </a:p>
        </p:txBody>
      </p:sp>
      <p:pic>
        <p:nvPicPr>
          <p:cNvPr id="7" name="Picture 6" descr="a11c1948c35e34542ab0caff5cd2a8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011680"/>
            <a:ext cx="2011680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08960" y="3200400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>
                <a:solidFill>
                  <a:srgbClr val="2E5A88"/>
                </a:solidFill>
              </a:defRPr>
            </a:pPr>
            <a:r>
              <a:t>Free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3200400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>
                <a:solidFill>
                  <a:srgbClr val="C0392B"/>
                </a:solidFill>
              </a:defRPr>
            </a:pPr>
            <a:r>
              <a:t>Enthalpy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200400"/>
            <a:ext cx="20116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27AE60"/>
                </a:solidFill>
              </a:defRPr>
            </a:pPr>
            <a:r>
              <a:t>Entropy Term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645920"/>
            <a:ext cx="91440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8000">
                <a:solidFill>
                  <a:srgbClr val="27AE60"/>
                </a:solidFill>
              </a:defRPr>
            </a:pPr>
            <a:r>
              <a:t>↑↑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54880"/>
            <a:ext cx="9445752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800">
                <a:solidFill>
                  <a:srgbClr val="444444"/>
                </a:solidFill>
              </a:defRPr>
            </a:pPr>
            <a:r>
              <a:t>Folding is a negative ΔG process driven largely by the massive positive TΔS of the released water.</a:t>
            </a:r>
            <a:br/>
            <a:br/>
            <a:r>
              <a:t>Water wins again.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72000"/>
            <a:ext cx="11274552" cy="457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